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morning. This internship built a complete touchless typing system that needs nothing beyond an ordinary laptop webcam. The research core is a decoder that can use a language model without ever letting it contradict what the user actually looked 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Motivation: typing excludes people who cannot use their hands, and gaze is the natural substitute — but accurate gaze tracking normally needs infrared hardware. The constraint we accept: a plain webcam, whose gaze estimate is coarse. The objective is on the right: full typing, no extra hardware, and faithfulness to what was gazed.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sensing pipeline in five steps: landmarks from each frame, eight interpretable geometric features, a small per-user calibrated mapping to screen coordinates, and dwell-based selection. Two concepts worth explaining in the review: calibration is personal and self-refining, and dwell is what solves the Midas-touch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keyboard the project actually runs: a full individual-letter QWERTY layout, with the keys sized to fill the screen. You move a smoothed gaze cursor over it and dwell — holding a fixation for about 0.69 seconds commits the key underneath, with a ring filling as feedback and a short re-arm so double letters still work. Because each key is one letter, entry is exact: what you look at is what you type, with no decoding and therefore no wrong-word errors. To speed things up, as you type a prefix the system offers word suggestions drawn from a 16,839-word frequency vocabulary — dwelling a suggestion completes the whole word in a single selection. Space and backspace handle boundaries and edits. The bridge to the next slide: individual keys are exact but small, so they demand precise gaze; if we instead used fewer, larger keys holding several letters each, a word would become a short but ambiguous code — and resolving that ambiguity faithfully is exactly what the decoder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decoder is tiered, cheapest and most certain first. Tier 1: unambiguous codes decode by lookup. Tier 2: a lattice of candidate words scored by a compact language model — consistent by construction. Tier 3: a neural sequence model, but its hypotheses are admitted only if they re-encode to the gazed input; otherwise it just re-ranks consistent candidates. That subordination is the contribution: language-model power without hallucination.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exists and what is proven. Left: the delivered system — tracker, decoder with its vocabulary, and the reproducible pipeline. Right: verified behaviour — 23 backend checks and 16 browser checks, all passing, plus behavioural confirmation of the dwell timing. I am explicit about scope: quantitative accuracy is the next measurement, and the harness for it already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takeaways: hardware-free gaze typing is feasible; the consistency-constrained decoder gives language-model power without hallucination; and the whole pipeline is reproducible. Next steps: run the quantitative evaluation, adapt the dwell time, and evaluate with the target user population.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72200" y="365760"/>
            <a:ext cx="3108960" cy="3108960"/>
          </a:xfrm>
          <a:prstGeom prst="ellipse">
            <a:avLst/>
          </a:prstGeom>
          <a:solidFill>
            <a:srgbClr val="16203F">
              <a:alpha val="0"/>
            </a:srgbClr>
          </a:solidFill>
          <a:ln w="15875">
            <a:solidFill>
              <a:srgbClr val="2E3D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777240"/>
            <a:ext cx="2286000" cy="2286000"/>
          </a:xfrm>
          <a:prstGeom prst="ellipse">
            <a:avLst/>
          </a:prstGeom>
          <a:solidFill>
            <a:srgbClr val="16203F">
              <a:alpha val="0"/>
            </a:srgbClr>
          </a:solidFill>
          <a:ln w="15875">
            <a:solidFill>
              <a:srgbClr val="2E3D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1143000"/>
            <a:ext cx="1554480" cy="1554480"/>
          </a:xfrm>
          <a:prstGeom prst="ellipse">
            <a:avLst/>
          </a:prstGeom>
          <a:solidFill>
            <a:srgbClr val="16203F">
              <a:alpha val="0"/>
            </a:srgbClr>
          </a:solidFill>
          <a:ln w="31750">
            <a:solidFill>
              <a:srgbClr val="E39A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98664" y="1792224"/>
            <a:ext cx="256032" cy="256032"/>
          </a:xfrm>
          <a:prstGeom prst="ellipse">
            <a:avLst/>
          </a:prstGeom>
          <a:solidFill>
            <a:srgbClr val="E39A2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8404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TECHNOLOGY TIRUCHIRAPPALLI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7665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Eye-Gaze Typing on a</a:t>
            </a:r>
            <a:endParaRPr lang="en-US" sz="3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Commodity Webcam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66928" y="2852928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Cluster-Constrained Hybrid Decoder for Accessible Text Entry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66928" y="3456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Review  ·  July 2026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422452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Devash S   ·   Roll No. 23619110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B.Tech. CSE (Specialization in AI &amp; Machine Learning)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94960" y="42245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Kunwar Singh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Professor, Dept. of CSE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" y="429768"/>
            <a:ext cx="274320" cy="274320"/>
          </a:xfrm>
          <a:prstGeom prst="ellipse">
            <a:avLst/>
          </a:prstGeom>
          <a:solidFill>
            <a:srgbClr val="E39A2D">
              <a:alpha val="0"/>
            </a:srgbClr>
          </a:solidFill>
          <a:ln w="28575">
            <a:solidFill>
              <a:srgbClr val="E39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761" y="509321"/>
            <a:ext cx="115214" cy="115214"/>
          </a:xfrm>
          <a:prstGeom prst="ellipse">
            <a:avLst/>
          </a:prstGeom>
          <a:solidFill>
            <a:srgbClr val="1F2A54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926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Type with the Eyes?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57784" y="1271016"/>
            <a:ext cx="310896" cy="310896"/>
          </a:xfrm>
          <a:prstGeom prst="ellipse">
            <a:avLst/>
          </a:prstGeom>
          <a:solidFill>
            <a:srgbClr val="1F2A54">
              <a:alpha val="0"/>
            </a:srgbClr>
          </a:solidFill>
          <a:ln w="25400">
            <a:solidFill>
              <a:srgbClr val="1F2A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7944" y="1361176"/>
            <a:ext cx="130576" cy="130576"/>
          </a:xfrm>
          <a:prstGeom prst="ellipse">
            <a:avLst/>
          </a:prstGeom>
          <a:solidFill>
            <a:srgbClr val="E39A2D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1115568"/>
            <a:ext cx="3611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assumes working hands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impairments, sterile or hands-busy settings — the keyboard quietly excludes many users.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57784" y="2441448"/>
            <a:ext cx="310896" cy="310896"/>
          </a:xfrm>
          <a:prstGeom prst="ellipse">
            <a:avLst/>
          </a:prstGeom>
          <a:solidFill>
            <a:srgbClr val="1F2A54">
              <a:alpha val="0"/>
            </a:srgbClr>
          </a:solidFill>
          <a:ln w="25400">
            <a:solidFill>
              <a:srgbClr val="1F2A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7944" y="2531608"/>
            <a:ext cx="130576" cy="130576"/>
          </a:xfrm>
          <a:prstGeom prst="ellipse">
            <a:avLst/>
          </a:prstGeom>
          <a:solidFill>
            <a:srgbClr val="E39A2D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2286000"/>
            <a:ext cx="3611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gaze needs costly hardware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eye-trackers use infrared rigs that rarely leave the lab or clinic.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57784" y="3611880"/>
            <a:ext cx="310896" cy="310896"/>
          </a:xfrm>
          <a:prstGeom prst="ellipse">
            <a:avLst/>
          </a:prstGeom>
          <a:solidFill>
            <a:srgbClr val="1F2A54">
              <a:alpha val="0"/>
            </a:srgbClr>
          </a:solidFill>
          <a:ln w="25400">
            <a:solidFill>
              <a:srgbClr val="1F2A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7944" y="3702040"/>
            <a:ext cx="130576" cy="130576"/>
          </a:xfrm>
          <a:prstGeom prst="ellipse">
            <a:avLst/>
          </a:prstGeom>
          <a:solidFill>
            <a:srgbClr val="E39A2D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" y="3456432"/>
            <a:ext cx="3611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webcam sees gaze only coarsely</a:t>
            </a:r>
            <a:endParaRPr lang="en-US" sz="1550" dirty="0"/>
          </a:p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plain camera, the gaze estimate can be off by an entire key width.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983480" y="1115568"/>
            <a:ext cx="3703320" cy="1417320"/>
          </a:xfrm>
          <a:prstGeom prst="roundRect">
            <a:avLst>
              <a:gd name="adj" fmla="val 5806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12080" y="1115568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F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eyes already point at what we intend to select. Recover that point well enough, and looking becomes typing.”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983480" y="2761488"/>
            <a:ext cx="3703320" cy="1691640"/>
          </a:xfrm>
          <a:prstGeom prst="roundRect">
            <a:avLst>
              <a:gd name="adj" fmla="val 4865"/>
            </a:avLst>
          </a:prstGeom>
          <a:solidFill>
            <a:srgbClr val="1F2A54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12080" y="292608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spc="200" kern="0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eye-typing system on a standard webcam — no added hardware — that never outputs text the user did not gaze.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" y="429768"/>
            <a:ext cx="274320" cy="274320"/>
          </a:xfrm>
          <a:prstGeom prst="ellipse">
            <a:avLst/>
          </a:prstGeom>
          <a:solidFill>
            <a:srgbClr val="E39A2D">
              <a:alpha val="0"/>
            </a:srgbClr>
          </a:solidFill>
          <a:ln w="28575">
            <a:solidFill>
              <a:srgbClr val="E39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761" y="509321"/>
            <a:ext cx="115214" cy="115214"/>
          </a:xfrm>
          <a:prstGeom prst="ellipse">
            <a:avLst/>
          </a:prstGeom>
          <a:solidFill>
            <a:srgbClr val="1F2A54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926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Glance to a Keystroke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499616" cy="1481328"/>
          </a:xfrm>
          <a:prstGeom prst="roundRect">
            <a:avLst>
              <a:gd name="adj" fmla="val 4938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188720"/>
            <a:ext cx="310896" cy="310896"/>
          </a:xfrm>
          <a:prstGeom prst="ellipse">
            <a:avLst/>
          </a:prstGeom>
          <a:solidFill>
            <a:srgbClr val="E39A2D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572768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frame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ordinary video frame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956816" y="162763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39696" y="1078992"/>
            <a:ext cx="1499616" cy="1481328"/>
          </a:xfrm>
          <a:prstGeom prst="roundRect">
            <a:avLst>
              <a:gd name="adj" fmla="val 4938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49424" y="1188720"/>
            <a:ext cx="310896" cy="310896"/>
          </a:xfrm>
          <a:prstGeom prst="ellipse">
            <a:avLst/>
          </a:prstGeom>
          <a:solidFill>
            <a:srgbClr val="E39A2D"/>
          </a:solidFill>
          <a:ln/>
        </p:spPr>
      </p:sp>
      <p:sp>
        <p:nvSpPr>
          <p:cNvPr id="12" name="Text 10"/>
          <p:cNvSpPr/>
          <p:nvPr/>
        </p:nvSpPr>
        <p:spPr>
          <a:xfrm>
            <a:off x="2249424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49424" y="1572768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&amp; iris landmarks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iris sits in the eye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39312" y="162763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22192" y="1078992"/>
            <a:ext cx="1499616" cy="1481328"/>
          </a:xfrm>
          <a:prstGeom prst="roundRect">
            <a:avLst>
              <a:gd name="adj" fmla="val 4938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31920" y="1188720"/>
            <a:ext cx="310896" cy="310896"/>
          </a:xfrm>
          <a:prstGeom prst="ellipse">
            <a:avLst/>
          </a:prstGeom>
          <a:solidFill>
            <a:srgbClr val="E39A2D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0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1572768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geometric features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ratios + head position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321808" y="162763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04688" y="1078992"/>
            <a:ext cx="1499616" cy="1481328"/>
          </a:xfrm>
          <a:prstGeom prst="roundRect">
            <a:avLst>
              <a:gd name="adj" fmla="val 4938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14416" y="1188720"/>
            <a:ext cx="310896" cy="310896"/>
          </a:xfrm>
          <a:prstGeom prst="ellipse">
            <a:avLst/>
          </a:prstGeom>
          <a:solidFill>
            <a:srgbClr val="E39A2D"/>
          </a:solidFill>
          <a:ln/>
        </p:spPr>
      </p:sp>
      <p:sp>
        <p:nvSpPr>
          <p:cNvPr id="22" name="Text 20"/>
          <p:cNvSpPr/>
          <p:nvPr/>
        </p:nvSpPr>
        <p:spPr>
          <a:xfrm>
            <a:off x="5614416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14416" y="1572768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mapping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fit → screen point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004304" y="162763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187184" y="1078992"/>
            <a:ext cx="1499616" cy="1481328"/>
          </a:xfrm>
          <a:prstGeom prst="roundRect">
            <a:avLst>
              <a:gd name="adj" fmla="val 4938"/>
            </a:avLst>
          </a:prstGeom>
          <a:solidFill>
            <a:srgbClr val="1F2A54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96912" y="1188720"/>
            <a:ext cx="310896" cy="310896"/>
          </a:xfrm>
          <a:prstGeom prst="ellipse">
            <a:avLst/>
          </a:prstGeom>
          <a:solidFill>
            <a:srgbClr val="E39A2D"/>
          </a:solidFill>
          <a:ln/>
        </p:spPr>
      </p:sp>
      <p:sp>
        <p:nvSpPr>
          <p:cNvPr id="27" name="Text 25"/>
          <p:cNvSpPr/>
          <p:nvPr/>
        </p:nvSpPr>
        <p:spPr>
          <a:xfrm>
            <a:off x="7296912" y="1188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96912" y="1572768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to commit</a:t>
            </a:r>
            <a:endParaRPr lang="en-US" sz="12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C9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0.69 s → key types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57200" y="3017520"/>
            <a:ext cx="4023360" cy="1572768"/>
          </a:xfrm>
          <a:prstGeom prst="roundRect">
            <a:avLst>
              <a:gd name="adj" fmla="val 5233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6656" y="3163824"/>
            <a:ext cx="36118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calibration</a:t>
            </a:r>
            <a:endParaRPr lang="en-US" sz="14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7 screen spots and click each — that fits a small personal gaze model. Every later click quietly refines it, so accuracy improves with use.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4791456" y="3017520"/>
            <a:ext cx="3895344" cy="1572768"/>
          </a:xfrm>
          <a:prstGeom prst="roundRect">
            <a:avLst>
              <a:gd name="adj" fmla="val 5233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10912" y="3163824"/>
            <a:ext cx="349300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Midas-touch problem</a:t>
            </a:r>
            <a:endParaRPr lang="en-US" sz="14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always point somewhere — every glance would type. Dwell turns looking into a deliberate act: a key fires only after a held fixation, then briefly re-arms.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" y="429768"/>
            <a:ext cx="274320" cy="274320"/>
          </a:xfrm>
          <a:prstGeom prst="ellipse">
            <a:avLst/>
          </a:prstGeom>
          <a:solidFill>
            <a:srgbClr val="E39A2D">
              <a:alpha val="0"/>
            </a:srgbClr>
          </a:solidFill>
          <a:ln w="28575">
            <a:solidFill>
              <a:srgbClr val="E39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761" y="509321"/>
            <a:ext cx="115214" cy="115214"/>
          </a:xfrm>
          <a:prstGeom prst="ellipse">
            <a:avLst/>
          </a:prstGeom>
          <a:solidFill>
            <a:srgbClr val="1F2A54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926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Keyboard — Direct Gaze Typing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207008"/>
            <a:ext cx="340157" cy="347472"/>
          </a:xfrm>
          <a:prstGeom prst="roundRect">
            <a:avLst>
              <a:gd name="adj" fmla="val 13441"/>
            </a:avLst>
          </a:prstGeom>
          <a:solidFill>
            <a:srgbClr val="EEF3FC"/>
          </a:solidFill>
          <a:ln w="6350">
            <a:solidFill>
              <a:srgbClr val="B9C6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07008"/>
            <a:ext cx="3401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94283" y="1207008"/>
            <a:ext cx="340157" cy="347472"/>
          </a:xfrm>
          <a:prstGeom prst="roundRect">
            <a:avLst>
              <a:gd name="adj" fmla="val 13441"/>
            </a:avLst>
          </a:prstGeom>
          <a:solidFill>
            <a:srgbClr val="EEF3FC"/>
          </a:solidFill>
          <a:ln w="6350">
            <a:solidFill>
              <a:srgbClr val="B9C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4283" y="1207008"/>
            <a:ext cx="3401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85646" y="1207008"/>
            <a:ext cx="340157" cy="347472"/>
          </a:xfrm>
          <a:prstGeom prst="roundRect">
            <a:avLst>
              <a:gd name="adj" fmla="val 13441"/>
            </a:avLst>
          </a:prstGeom>
          <a:solidFill>
            <a:srgbClr val="EEF3FC"/>
          </a:solidFill>
          <a:ln w="6350">
            <a:solidFill>
              <a:srgbClr val="B9C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5646" y="1207008"/>
            <a:ext cx="3401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77010" y="1207008"/>
            <a:ext cx="340157" cy="347472"/>
          </a:xfrm>
          <a:prstGeom prst="roundRect">
            <a:avLst>
              <a:gd name="adj" fmla="val 13441"/>
            </a:avLst>
          </a:prstGeom>
          <a:solidFill>
            <a:srgbClr val="EEF3FC"/>
          </a:solidFill>
          <a:ln w="6350">
            <a:solidFill>
              <a:srgbClr val="B9C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77010" y="1207008"/>
            <a:ext cx="3401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68373" y="1207008"/>
            <a:ext cx="340157" cy="347472"/>
          </a:xfrm>
          <a:prstGeom prst="roundRect">
            <a:avLst>
              <a:gd name="adj" fmla="val 13441"/>
            </a:avLst>
          </a:prstGeom>
          <a:solidFill>
            <a:srgbClr val="EEF3FC"/>
          </a:solidFill>
          <a:ln w="6350">
            <a:solidFill>
              <a:srgbClr val="B9C6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68373" y="1207008"/>
            <a:ext cx="3401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59736" y="1207008"/>
            <a:ext cx="340157" cy="347472"/>
          </a:xfrm>
          <a:prstGeom prst="roundRect">
            <a:avLst>
              <a:gd name="adj" fmla="val 13441"/>
            </a:avLst>
          </a:prstGeom>
          <a:solidFill>
            <a:srgbClr val="EEF3FC"/>
          </a:solidFill>
          <a:ln w="6350">
            <a:solidFill>
              <a:srgbClr val="B9C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59736" y="1207008"/>
            <a:ext cx="3401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51099" y="1207008"/>
            <a:ext cx="340157" cy="347472"/>
          </a:xfrm>
          <a:prstGeom prst="roundRect">
            <a:avLst>
              <a:gd name="adj" fmla="val 13441"/>
            </a:avLst>
          </a:prstGeom>
          <a:solidFill>
            <a:srgbClr val="EEF3FC"/>
          </a:solidFill>
          <a:ln w="6350">
            <a:solidFill>
              <a:srgbClr val="B9C6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51099" y="1207008"/>
            <a:ext cx="3401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2462" y="1207008"/>
            <a:ext cx="340157" cy="347472"/>
          </a:xfrm>
          <a:prstGeom prst="roundRect">
            <a:avLst>
              <a:gd name="adj" fmla="val 13441"/>
            </a:avLst>
          </a:prstGeom>
          <a:solidFill>
            <a:srgbClr val="EEF3FC"/>
          </a:solidFill>
          <a:ln w="6350">
            <a:solidFill>
              <a:srgbClr val="B9C6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2462" y="1207008"/>
            <a:ext cx="3401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33826" y="1207008"/>
            <a:ext cx="340157" cy="347472"/>
          </a:xfrm>
          <a:prstGeom prst="roundRect">
            <a:avLst>
              <a:gd name="adj" fmla="val 13441"/>
            </a:avLst>
          </a:prstGeom>
          <a:solidFill>
            <a:srgbClr val="EEF3FC"/>
          </a:solidFill>
          <a:ln w="6350">
            <a:solidFill>
              <a:srgbClr val="B9C6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3826" y="1207008"/>
            <a:ext cx="3401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025189" y="1207008"/>
            <a:ext cx="340157" cy="347472"/>
          </a:xfrm>
          <a:prstGeom prst="roundRect">
            <a:avLst>
              <a:gd name="adj" fmla="val 13441"/>
            </a:avLst>
          </a:prstGeom>
          <a:solidFill>
            <a:srgbClr val="EEF3FC"/>
          </a:solidFill>
          <a:ln w="6350">
            <a:solidFill>
              <a:srgbClr val="B9C6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5189" y="1207008"/>
            <a:ext cx="3401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4944" y="1632204"/>
            <a:ext cx="340157" cy="347472"/>
          </a:xfrm>
          <a:prstGeom prst="roundRect">
            <a:avLst>
              <a:gd name="adj" fmla="val 13441"/>
            </a:avLst>
          </a:prstGeom>
          <a:solidFill>
            <a:srgbClr val="EEF3FC"/>
          </a:solidFill>
          <a:ln w="6350">
            <a:solidFill>
              <a:srgbClr val="B9C6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" y="1632204"/>
            <a:ext cx="3401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86307" y="1632204"/>
            <a:ext cx="340157" cy="347472"/>
          </a:xfrm>
          <a:prstGeom prst="roundRect">
            <a:avLst>
              <a:gd name="adj" fmla="val 13441"/>
            </a:avLst>
          </a:prstGeom>
          <a:solidFill>
            <a:srgbClr val="EEF3FC"/>
          </a:solidFill>
          <a:ln w="6350">
            <a:solidFill>
              <a:srgbClr val="B9C6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6307" y="1632204"/>
            <a:ext cx="3401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477670" y="1632204"/>
            <a:ext cx="340157" cy="347472"/>
          </a:xfrm>
          <a:prstGeom prst="roundRect">
            <a:avLst>
              <a:gd name="adj" fmla="val 13441"/>
            </a:avLst>
          </a:prstGeom>
          <a:solidFill>
            <a:srgbClr val="EEF3FC"/>
          </a:solidFill>
          <a:ln w="6350">
            <a:solidFill>
              <a:srgbClr val="B9C6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77670" y="1632204"/>
            <a:ext cx="3401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69034" y="1632204"/>
            <a:ext cx="340157" cy="347472"/>
          </a:xfrm>
          <a:prstGeom prst="roundRect">
            <a:avLst>
              <a:gd name="adj" fmla="val 13441"/>
            </a:avLst>
          </a:prstGeom>
          <a:solidFill>
            <a:srgbClr val="EEF3FC"/>
          </a:solidFill>
          <a:ln w="6350">
            <a:solidFill>
              <a:srgbClr val="B9C6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69034" y="1632204"/>
            <a:ext cx="3401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260397" y="1632204"/>
            <a:ext cx="340157" cy="347472"/>
          </a:xfrm>
          <a:prstGeom prst="roundRect">
            <a:avLst>
              <a:gd name="adj" fmla="val 13441"/>
            </a:avLst>
          </a:prstGeom>
          <a:solidFill>
            <a:srgbClr val="EEF3FC"/>
          </a:solidFill>
          <a:ln w="6350">
            <a:solidFill>
              <a:srgbClr val="B9C6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60397" y="1632204"/>
            <a:ext cx="3401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651760" y="1632204"/>
            <a:ext cx="340157" cy="347472"/>
          </a:xfrm>
          <a:prstGeom prst="roundRect">
            <a:avLst>
              <a:gd name="adj" fmla="val 13441"/>
            </a:avLst>
          </a:prstGeom>
          <a:solidFill>
            <a:srgbClr val="E39A2D"/>
          </a:solidFill>
          <a:ln w="6350">
            <a:solidFill>
              <a:srgbClr val="B9C6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51760" y="1632204"/>
            <a:ext cx="3401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043123" y="1632204"/>
            <a:ext cx="340157" cy="347472"/>
          </a:xfrm>
          <a:prstGeom prst="roundRect">
            <a:avLst>
              <a:gd name="adj" fmla="val 13441"/>
            </a:avLst>
          </a:prstGeom>
          <a:solidFill>
            <a:srgbClr val="EEF3FC"/>
          </a:solidFill>
          <a:ln w="6350">
            <a:solidFill>
              <a:srgbClr val="B9C6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43123" y="1632204"/>
            <a:ext cx="3401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434486" y="1632204"/>
            <a:ext cx="340157" cy="347472"/>
          </a:xfrm>
          <a:prstGeom prst="roundRect">
            <a:avLst>
              <a:gd name="adj" fmla="val 13441"/>
            </a:avLst>
          </a:prstGeom>
          <a:solidFill>
            <a:srgbClr val="EEF3FC"/>
          </a:solidFill>
          <a:ln w="6350">
            <a:solidFill>
              <a:srgbClr val="B9C6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34486" y="1632204"/>
            <a:ext cx="3401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825850" y="1632204"/>
            <a:ext cx="340157" cy="347472"/>
          </a:xfrm>
          <a:prstGeom prst="roundRect">
            <a:avLst>
              <a:gd name="adj" fmla="val 13441"/>
            </a:avLst>
          </a:prstGeom>
          <a:solidFill>
            <a:srgbClr val="EEF3FC"/>
          </a:solidFill>
          <a:ln w="6350">
            <a:solidFill>
              <a:srgbClr val="B9C6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25850" y="1632204"/>
            <a:ext cx="3401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86968" y="2057400"/>
            <a:ext cx="340157" cy="347472"/>
          </a:xfrm>
          <a:prstGeom prst="roundRect">
            <a:avLst>
              <a:gd name="adj" fmla="val 13441"/>
            </a:avLst>
          </a:prstGeom>
          <a:solidFill>
            <a:srgbClr val="EEF3FC"/>
          </a:solidFill>
          <a:ln w="6350">
            <a:solidFill>
              <a:srgbClr val="B9C6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6968" y="2057400"/>
            <a:ext cx="3401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278331" y="2057400"/>
            <a:ext cx="340157" cy="347472"/>
          </a:xfrm>
          <a:prstGeom prst="roundRect">
            <a:avLst>
              <a:gd name="adj" fmla="val 13441"/>
            </a:avLst>
          </a:prstGeom>
          <a:solidFill>
            <a:srgbClr val="EEF3FC"/>
          </a:solidFill>
          <a:ln w="6350">
            <a:solidFill>
              <a:srgbClr val="B9C6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78331" y="2057400"/>
            <a:ext cx="3401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669694" y="2057400"/>
            <a:ext cx="340157" cy="347472"/>
          </a:xfrm>
          <a:prstGeom prst="roundRect">
            <a:avLst>
              <a:gd name="adj" fmla="val 13441"/>
            </a:avLst>
          </a:prstGeom>
          <a:solidFill>
            <a:srgbClr val="EEF3FC"/>
          </a:solidFill>
          <a:ln w="6350">
            <a:solidFill>
              <a:srgbClr val="B9C6E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669694" y="2057400"/>
            <a:ext cx="3401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061058" y="2057400"/>
            <a:ext cx="340157" cy="347472"/>
          </a:xfrm>
          <a:prstGeom prst="roundRect">
            <a:avLst>
              <a:gd name="adj" fmla="val 13441"/>
            </a:avLst>
          </a:prstGeom>
          <a:solidFill>
            <a:srgbClr val="EEF3FC"/>
          </a:solidFill>
          <a:ln w="6350">
            <a:solidFill>
              <a:srgbClr val="B9C6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61058" y="2057400"/>
            <a:ext cx="3401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452421" y="2057400"/>
            <a:ext cx="340157" cy="347472"/>
          </a:xfrm>
          <a:prstGeom prst="roundRect">
            <a:avLst>
              <a:gd name="adj" fmla="val 13441"/>
            </a:avLst>
          </a:prstGeom>
          <a:solidFill>
            <a:srgbClr val="EEF3FC"/>
          </a:solidFill>
          <a:ln w="6350">
            <a:solidFill>
              <a:srgbClr val="B9C6E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452421" y="2057400"/>
            <a:ext cx="3401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843784" y="2057400"/>
            <a:ext cx="340157" cy="347472"/>
          </a:xfrm>
          <a:prstGeom prst="roundRect">
            <a:avLst>
              <a:gd name="adj" fmla="val 13441"/>
            </a:avLst>
          </a:prstGeom>
          <a:solidFill>
            <a:srgbClr val="EEF3FC"/>
          </a:solidFill>
          <a:ln w="6350">
            <a:solidFill>
              <a:srgbClr val="B9C6E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43784" y="2057400"/>
            <a:ext cx="3401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235147" y="2057400"/>
            <a:ext cx="340157" cy="347472"/>
          </a:xfrm>
          <a:prstGeom prst="roundRect">
            <a:avLst>
              <a:gd name="adj" fmla="val 13441"/>
            </a:avLst>
          </a:prstGeom>
          <a:solidFill>
            <a:srgbClr val="EEF3FC"/>
          </a:solidFill>
          <a:ln w="6350">
            <a:solidFill>
              <a:srgbClr val="B9C6E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35147" y="2057400"/>
            <a:ext cx="3401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556662" y="1540764"/>
            <a:ext cx="530352" cy="530352"/>
          </a:xfrm>
          <a:prstGeom prst="ellipse">
            <a:avLst/>
          </a:prstGeom>
          <a:solidFill>
            <a:srgbClr val="1F2A54">
              <a:alpha val="0"/>
            </a:srgbClr>
          </a:solidFill>
          <a:ln w="22225">
            <a:solidFill>
              <a:srgbClr val="1F2A5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22960" y="2482596"/>
            <a:ext cx="2103120" cy="347472"/>
          </a:xfrm>
          <a:prstGeom prst="roundRect">
            <a:avLst>
              <a:gd name="adj" fmla="val 13158"/>
            </a:avLst>
          </a:prstGeom>
          <a:solidFill>
            <a:srgbClr val="DDE6F7"/>
          </a:solidFill>
          <a:ln w="6350">
            <a:solidFill>
              <a:srgbClr val="B9C6E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22960" y="248259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999232" y="2482596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F3E2CB"/>
          </a:solidFill>
          <a:ln w="6350">
            <a:solidFill>
              <a:srgbClr val="E0C79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99232" y="248259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⌫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502920" y="28849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Full-screen keys — one exact letter each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502920" y="36027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  </a:t>
            </a:r>
            <a:pPr indent="0" marL="0">
              <a:buNone/>
            </a:pPr>
            <a:r>
              <a:rPr lang="en-US" sz="1400" b="1" dirty="0">
                <a:solidFill>
                  <a:srgbClr val="1F2A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e l</a:t>
            </a:r>
            <a:pPr indent="0" marL="0">
              <a:buNone/>
            </a:pPr>
            <a:r>
              <a:rPr lang="en-US" sz="1400" b="1" dirty="0">
                <a:solidFill>
                  <a:srgbClr val="E39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▏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02920" y="3931920"/>
            <a:ext cx="760781" cy="310896"/>
          </a:xfrm>
          <a:prstGeom prst="roundRect">
            <a:avLst>
              <a:gd name="adj" fmla="val 50000"/>
            </a:avLst>
          </a:prstGeom>
          <a:solidFill>
            <a:srgbClr val="FBEBD0"/>
          </a:solidFill>
          <a:ln/>
        </p:spPr>
      </p:sp>
      <p:sp>
        <p:nvSpPr>
          <p:cNvPr id="65" name="Text 63"/>
          <p:cNvSpPr/>
          <p:nvPr/>
        </p:nvSpPr>
        <p:spPr>
          <a:xfrm>
            <a:off x="502920" y="3931920"/>
            <a:ext cx="7607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1382573" y="3931920"/>
            <a:ext cx="859536" cy="310896"/>
          </a:xfrm>
          <a:prstGeom prst="roundRect">
            <a:avLst>
              <a:gd name="adj" fmla="val 50000"/>
            </a:avLst>
          </a:prstGeom>
          <a:solidFill>
            <a:srgbClr val="FBEBD0"/>
          </a:solidFill>
          <a:ln/>
        </p:spPr>
      </p:sp>
      <p:sp>
        <p:nvSpPr>
          <p:cNvPr id="67" name="Text 65"/>
          <p:cNvSpPr/>
          <p:nvPr/>
        </p:nvSpPr>
        <p:spPr>
          <a:xfrm>
            <a:off x="1382573" y="3931920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360981" y="3931920"/>
            <a:ext cx="760781" cy="310896"/>
          </a:xfrm>
          <a:prstGeom prst="roundRect">
            <a:avLst>
              <a:gd name="adj" fmla="val 50000"/>
            </a:avLst>
          </a:prstGeom>
          <a:solidFill>
            <a:srgbClr val="FBEBD0"/>
          </a:solidFill>
          <a:ln/>
        </p:spPr>
      </p:sp>
      <p:sp>
        <p:nvSpPr>
          <p:cNvPr id="69" name="Text 67"/>
          <p:cNvSpPr/>
          <p:nvPr/>
        </p:nvSpPr>
        <p:spPr>
          <a:xfrm>
            <a:off x="2360981" y="3931920"/>
            <a:ext cx="76078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3277210" y="3931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dwell a suggestion to finish the word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809744" y="1243584"/>
            <a:ext cx="292608" cy="292608"/>
          </a:xfrm>
          <a:prstGeom prst="ellipse">
            <a:avLst/>
          </a:prstGeom>
          <a:solidFill>
            <a:srgbClr val="1F2A54">
              <a:alpha val="0"/>
            </a:srgbClr>
          </a:solidFill>
          <a:ln w="25400">
            <a:solidFill>
              <a:srgbClr val="1F2A5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94600" y="1328440"/>
            <a:ext cx="122895" cy="122895"/>
          </a:xfrm>
          <a:prstGeom prst="ellipse">
            <a:avLst/>
          </a:prstGeom>
          <a:solidFill>
            <a:srgbClr val="E39A2D"/>
          </a:solidFill>
          <a:ln/>
        </p:spPr>
      </p:sp>
      <p:sp>
        <p:nvSpPr>
          <p:cNvPr id="73" name="Text 71"/>
          <p:cNvSpPr/>
          <p:nvPr/>
        </p:nvSpPr>
        <p:spPr>
          <a:xfrm>
            <a:off x="5285232" y="1133856"/>
            <a:ext cx="34015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to type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your gaze on a key; hold about 0.69 s and that exact letter is entered — a ring fills as live feedback.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4809744" y="2176272"/>
            <a:ext cx="292608" cy="292608"/>
          </a:xfrm>
          <a:prstGeom prst="ellipse">
            <a:avLst/>
          </a:prstGeom>
          <a:solidFill>
            <a:srgbClr val="1F2A54">
              <a:alpha val="0"/>
            </a:srgbClr>
          </a:solidFill>
          <a:ln w="25400">
            <a:solidFill>
              <a:srgbClr val="1F2A5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94600" y="2261128"/>
            <a:ext cx="122895" cy="122895"/>
          </a:xfrm>
          <a:prstGeom prst="ellipse">
            <a:avLst/>
          </a:prstGeom>
          <a:solidFill>
            <a:srgbClr val="E39A2D"/>
          </a:solidFill>
          <a:ln/>
        </p:spPr>
      </p:sp>
      <p:sp>
        <p:nvSpPr>
          <p:cNvPr id="76" name="Text 74"/>
          <p:cNvSpPr/>
          <p:nvPr/>
        </p:nvSpPr>
        <p:spPr>
          <a:xfrm>
            <a:off x="5285232" y="2066544"/>
            <a:ext cx="34015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by design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letter per key, so what you look at is what you type — no decoding step, and no wrong words.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4809744" y="3108960"/>
            <a:ext cx="292608" cy="292608"/>
          </a:xfrm>
          <a:prstGeom prst="ellipse">
            <a:avLst/>
          </a:prstGeom>
          <a:solidFill>
            <a:srgbClr val="1F2A54">
              <a:alpha val="0"/>
            </a:srgbClr>
          </a:solidFill>
          <a:ln w="25400">
            <a:solidFill>
              <a:srgbClr val="1F2A5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894600" y="3193816"/>
            <a:ext cx="122895" cy="122895"/>
          </a:xfrm>
          <a:prstGeom prst="ellipse">
            <a:avLst/>
          </a:prstGeom>
          <a:solidFill>
            <a:srgbClr val="E39A2D"/>
          </a:solidFill>
          <a:ln/>
        </p:spPr>
      </p:sp>
      <p:sp>
        <p:nvSpPr>
          <p:cNvPr id="79" name="Text 77"/>
          <p:cNvSpPr/>
          <p:nvPr/>
        </p:nvSpPr>
        <p:spPr>
          <a:xfrm>
            <a:off x="5285232" y="2999232"/>
            <a:ext cx="340156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autocomplete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pulls the top words from a 16,839-word vocabulary; dwell one to finish the whole word in a single gaze.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457200" y="4370832"/>
            <a:ext cx="8229600" cy="603504"/>
          </a:xfrm>
          <a:prstGeom prst="roundRect">
            <a:avLst>
              <a:gd name="adj" fmla="val 12121"/>
            </a:avLst>
          </a:prstGeom>
          <a:solidFill>
            <a:srgbClr val="1F2A54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713232" y="4370832"/>
            <a:ext cx="7772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frontier: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fewer, larger keys are easier to gaze — but each holds several letters, turning a word into a short, ambiguous code. Resolving that ambiguity, faithfully, is the decoder’s job.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" y="429768"/>
            <a:ext cx="274320" cy="274320"/>
          </a:xfrm>
          <a:prstGeom prst="ellipse">
            <a:avLst/>
          </a:prstGeom>
          <a:solidFill>
            <a:srgbClr val="E39A2D">
              <a:alpha val="0"/>
            </a:srgbClr>
          </a:solidFill>
          <a:ln w="28575">
            <a:solidFill>
              <a:srgbClr val="E39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761" y="509321"/>
            <a:ext cx="115214" cy="115214"/>
          </a:xfrm>
          <a:prstGeom prst="ellipse">
            <a:avLst/>
          </a:prstGeom>
          <a:solidFill>
            <a:srgbClr val="1F2A54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926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Cluster-Constrained Hybrid Decoder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042416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371600"/>
            <a:ext cx="365760" cy="365760"/>
          </a:xfrm>
          <a:prstGeom prst="ellipse">
            <a:avLst/>
          </a:prstGeom>
          <a:solidFill>
            <a:srgbClr val="1F2A54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70432" y="1152144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· Exact lookup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unambiguous code maps to its single known word — deterministic, correct by construction.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76272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2505456"/>
            <a:ext cx="365760" cy="365760"/>
          </a:xfrm>
          <a:prstGeom prst="ellipse">
            <a:avLst/>
          </a:prstGeom>
          <a:solidFill>
            <a:srgbClr val="1F2A54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70432" y="22860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· Constrained lattice search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codes expand to candidate words; a compact language model picks the most fluent path. Every path re-encodes to the input.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310128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" y="3639312"/>
            <a:ext cx="365760" cy="365760"/>
          </a:xfrm>
          <a:prstGeom prst="ellipse">
            <a:avLst/>
          </a:prstGeom>
          <a:solidFill>
            <a:srgbClr val="1F2A54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70432" y="341985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· Neural disambiguation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model proposes full sentences — accepted only if they re-encode exactly; otherwise it merely re-ranks the lattice paths.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35040" y="1042416"/>
            <a:ext cx="2651760" cy="1920240"/>
          </a:xfrm>
          <a:prstGeom prst="roundRect">
            <a:avLst>
              <a:gd name="adj" fmla="val 4286"/>
            </a:avLst>
          </a:prstGeom>
          <a:solidFill>
            <a:srgbClr val="1F2A54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59752" y="1243584"/>
            <a:ext cx="402336" cy="402336"/>
          </a:xfrm>
          <a:prstGeom prst="ellipse">
            <a:avLst/>
          </a:prstGeom>
          <a:solidFill>
            <a:srgbClr val="E39A2D">
              <a:alpha val="0"/>
            </a:srgbClr>
          </a:solidFill>
          <a:ln w="31750">
            <a:solidFill>
              <a:srgbClr val="E39A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76429" y="1360261"/>
            <a:ext cx="168981" cy="168981"/>
          </a:xfrm>
          <a:prstGeom prst="ellipse">
            <a:avLst/>
          </a:prstGeom>
          <a:solidFill>
            <a:srgbClr val="E39A2D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755648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b="1" spc="200" kern="0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INVARIANT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accepted output re-encodes to exactly the code that was gazed.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3145536"/>
            <a:ext cx="2651760" cy="1463040"/>
          </a:xfrm>
          <a:prstGeom prst="roundRect">
            <a:avLst>
              <a:gd name="adj" fmla="val 5625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63640" y="3291840"/>
            <a:ext cx="221284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fluent-but-wrong sentence cannot slip through: the model disambiguates, but can never hallucinate.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5262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code was never seen and no consistent sentence exists, the result is flagged — never silently guessed.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" y="429768"/>
            <a:ext cx="274320" cy="274320"/>
          </a:xfrm>
          <a:prstGeom prst="ellipse">
            <a:avLst/>
          </a:prstGeom>
          <a:solidFill>
            <a:srgbClr val="E39A2D">
              <a:alpha val="0"/>
            </a:srgbClr>
          </a:solidFill>
          <a:ln w="28575">
            <a:solidFill>
              <a:srgbClr val="E39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761" y="509321"/>
            <a:ext cx="115214" cy="115214"/>
          </a:xfrm>
          <a:prstGeom prst="ellipse">
            <a:avLst/>
          </a:prstGeom>
          <a:solidFill>
            <a:srgbClr val="1F2A54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926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Built — and Verified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042416"/>
            <a:ext cx="4069080" cy="2103120"/>
          </a:xfrm>
          <a:prstGeom prst="roundRect">
            <a:avLst>
              <a:gd name="adj" fmla="val 3913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6656" y="11887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Delivered, end to end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In-browser gaze tracking, calibration and dwell keyboard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constrained decoder over a 16,839-word vocabulary built from ~173k sentences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corpus → vocabulary → model → evaluation pipeline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709160" y="1042416"/>
            <a:ext cx="3977640" cy="2103120"/>
          </a:xfrm>
          <a:prstGeom prst="roundRect">
            <a:avLst>
              <a:gd name="adj" fmla="val 3913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28616" y="118872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1F2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behaviour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round-trips and every decoder tier — 23 checks, all passing</a:t>
            </a:r>
            <a:endParaRPr lang="en-US" sz="14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typing flow driven end-to-end in the browser — 16 checks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threshold confirmed behaviourally, feedback synchronised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" y="3364992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39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478</a:t>
            </a:r>
            <a:endParaRPr lang="en-US" sz="28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landmarks per frame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69464" y="3364992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39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8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 features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81728" y="3364992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39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0.69 s</a:t>
            </a:r>
            <a:endParaRPr lang="en-US" sz="28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to commit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793992" y="3364992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39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16,839</a:t>
            </a:r>
            <a:endParaRPr lang="en-US" sz="28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vocabulary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" y="44622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scope: real-gaze and corpus-level accuracy are not yet measured — the evaluation harness is ready, and that measurement is the immediate next step.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208" y="429768"/>
            <a:ext cx="274320" cy="274320"/>
          </a:xfrm>
          <a:prstGeom prst="ellipse">
            <a:avLst/>
          </a:prstGeom>
          <a:solidFill>
            <a:srgbClr val="E39A2D">
              <a:alpha val="0"/>
            </a:srgbClr>
          </a:solidFill>
          <a:ln w="28575">
            <a:solidFill>
              <a:srgbClr val="E39A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0761" y="509321"/>
            <a:ext cx="115214" cy="115214"/>
          </a:xfrm>
          <a:prstGeom prst="ellipse">
            <a:avLst/>
          </a:prstGeom>
          <a:solidFill>
            <a:srgbClr val="E39A2D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29260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 &amp; What’s Next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03504" y="1298448"/>
            <a:ext cx="292608" cy="292608"/>
          </a:xfrm>
          <a:prstGeom prst="ellipse">
            <a:avLst/>
          </a:prstGeom>
          <a:solidFill>
            <a:srgbClr val="C9D9F5">
              <a:alpha val="0"/>
            </a:srgbClr>
          </a:solidFill>
          <a:ln w="25400">
            <a:solidFill>
              <a:srgbClr val="C9D9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8360" y="1383304"/>
            <a:ext cx="122895" cy="122895"/>
          </a:xfrm>
          <a:prstGeom prst="ellipse">
            <a:avLst/>
          </a:prstGeom>
          <a:solidFill>
            <a:srgbClr val="E39A2D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117043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without hands, hardware or guesswork</a:t>
            </a:r>
            <a:endParaRPr lang="en-US" sz="15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FB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webcam and a browser are enough for gaze-driven text entry.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03504" y="2231136"/>
            <a:ext cx="292608" cy="292608"/>
          </a:xfrm>
          <a:prstGeom prst="ellipse">
            <a:avLst/>
          </a:prstGeom>
          <a:solidFill>
            <a:srgbClr val="C9D9F5">
              <a:alpha val="0"/>
            </a:srgbClr>
          </a:solidFill>
          <a:ln w="25400">
            <a:solidFill>
              <a:srgbClr val="C9D9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8360" y="2315992"/>
            <a:ext cx="122895" cy="122895"/>
          </a:xfrm>
          <a:prstGeom prst="ellipse">
            <a:avLst/>
          </a:prstGeom>
          <a:solidFill>
            <a:srgbClr val="E39A2D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21031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decoder that cannot contradict the user</a:t>
            </a:r>
            <a:endParaRPr lang="en-US" sz="15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FB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 disambiguate under a hard consistency constraint — no hallucinated words.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03504" y="3163824"/>
            <a:ext cx="292608" cy="292608"/>
          </a:xfrm>
          <a:prstGeom prst="ellipse">
            <a:avLst/>
          </a:prstGeom>
          <a:solidFill>
            <a:srgbClr val="C9D9F5">
              <a:alpha val="0"/>
            </a:srgbClr>
          </a:solidFill>
          <a:ln w="25400">
            <a:solidFill>
              <a:srgbClr val="C9D9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8360" y="3248680"/>
            <a:ext cx="122895" cy="122895"/>
          </a:xfrm>
          <a:prstGeom prst="ellipse">
            <a:avLst/>
          </a:prstGeom>
          <a:solidFill>
            <a:srgbClr val="E39A2D"/>
          </a:solidFill>
          <a:ln/>
        </p:spPr>
      </p:sp>
      <p:sp>
        <p:nvSpPr>
          <p:cNvPr id="13" name="Text 11"/>
          <p:cNvSpPr/>
          <p:nvPr/>
        </p:nvSpPr>
        <p:spPr>
          <a:xfrm>
            <a:off x="1078992" y="303580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by design</a:t>
            </a:r>
            <a:endParaRPr lang="en-US" sz="15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FB2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encoding across data, training and decoding; an evaluation harness ready to run.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309360" y="1170432"/>
            <a:ext cx="2377440" cy="2194560"/>
          </a:xfrm>
          <a:prstGeom prst="roundRect">
            <a:avLst>
              <a:gd name="adj" fmla="val 3750"/>
            </a:avLst>
          </a:prstGeom>
          <a:solidFill>
            <a:srgbClr val="1F2A54"/>
          </a:solidFill>
          <a:ln w="12700">
            <a:solidFill>
              <a:srgbClr val="2E3D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1371600"/>
            <a:ext cx="2011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50" b="1" spc="200" kern="0" dirty="0">
                <a:solidFill>
                  <a:srgbClr val="E39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accuracy evaluation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dwell time to reduce fatigue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study with the users it is built for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3708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E39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Questions welcome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0" y="4434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F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Devash S · 23619110 · Guide: Dr. Kunwar Singh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Eye-Gaze Typing on a Commodity Webcam</dc:title>
  <dc:subject>PptxGenJS Presentation</dc:subject>
  <dc:creator>Devash S</dc:creator>
  <cp:lastModifiedBy>Devash S</cp:lastModifiedBy>
  <cp:revision>1</cp:revision>
  <dcterms:created xsi:type="dcterms:W3CDTF">2026-07-10T05:32:06Z</dcterms:created>
  <dcterms:modified xsi:type="dcterms:W3CDTF">2026-07-10T05:32:06Z</dcterms:modified>
</cp:coreProperties>
</file>